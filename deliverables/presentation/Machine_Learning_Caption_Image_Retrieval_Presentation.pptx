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Neural Caption-Image Retrieval</a:t>
            </a:r>
          </a:p>
          <a:p>
            <a:pPr>
              <a:spcBef>
                <a:spcPts val="1000"/>
              </a:spcBef>
              <a:defRPr sz="1800">
                <a:solidFill>
                  <a:srgbClr val="BEE3F8"/>
                </a:solidFill>
              </a:defRPr>
            </a:pPr>
            <a:r>
              <a:t>Reproducing Stanford CS229 Work &amp; Extending with Cross-Modal Self-Attention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62895" cy="2103120"/>
          </a:xfrm>
          <a:prstGeom prst="roundRect">
            <a:avLst/>
          </a:prstGeom>
          <a:solidFill>
            <a:srgbClr val="2C5282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D7E2"/>
                </a:solidFill>
              </a:defRPr>
            </a:pPr>
            <a:r>
              <a:t>PROJECT METADATA &amp; REVIEW SPECIFICATIONS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Course: UE24CS352A - Machine Learning Mini-Project | Topic ID: #36 (CS229 Report 59)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Reference Paper: 'Neural Caption-Image Retrieval' (Giacomo Lamberti &amp; Junyang Qian, Stanford CS229)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Mandate: (1) Reproduce Reference Results (2) Build 1 Novel Extension Model (Multi-Head Self-Attention)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Presentation Protocol: Maximum 8 Slides | 3-Min Demonstration Video | 10-Min Total Duration with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CS352A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1. Problem Statement &amp; Microsoft COCO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Cross-Modal Retrieval Task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Objective: </a:t>
            </a:r>
            <a:r>
              <a:rPr b="0">
                <a:solidFill>
                  <a:srgbClr val="2D3748"/>
                </a:solidFill>
              </a:rPr>
              <a:t>Given a natural language query sentence c, retrieve and rank the most relevant image(s) from a massive unstructured visual repository.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Multimodal Semantic Gap: </a:t>
            </a:r>
            <a:r>
              <a:rPr b="0">
                <a:solidFill>
                  <a:srgbClr val="2D3748"/>
                </a:solidFill>
              </a:rPr>
              <a:t>Visual pixels and textual words occupy fundamentally distinct syntactic and feature spaces.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Shared Embedding Concept: </a:t>
            </a:r>
            <a:r>
              <a:rPr b="0">
                <a:solidFill>
                  <a:srgbClr val="2D3748"/>
                </a:solidFill>
              </a:rPr>
              <a:t>Project images and captions into a common high-dimensional semantic space (d=1024) where distance reflects visual-textual relevance.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Evaluation Metric: </a:t>
            </a:r>
            <a:r>
              <a:rPr b="0">
                <a:solidFill>
                  <a:srgbClr val="2D3748"/>
                </a:solidFill>
              </a:rPr>
              <a:t>Recall@K (R@1, R@5, R@10) and Mean Rank: percentage of queries where the ground truth image appears within the top K retrieved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Microsoft COCO Dataset &amp; Features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Dataset Scale: </a:t>
            </a:r>
            <a:r>
              <a:rPr b="0">
                <a:solidFill>
                  <a:srgbClr val="2D3748"/>
                </a:solidFill>
              </a:rPr>
              <a:t>123,287 images total. Karpathy split: 113,287 training images, 5,000 validation, and 5,000 test images.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Human Annotations: </a:t>
            </a:r>
            <a:r>
              <a:rPr b="0">
                <a:solidFill>
                  <a:srgbClr val="2D3748"/>
                </a:solidFill>
              </a:rPr>
              <a:t>Each image is accompanied by exactly 5 distinct human-annotated descriptive captions (566,435 captions total).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Visual Representation: </a:t>
            </a:r>
            <a:r>
              <a:rPr b="0">
                <a:solidFill>
                  <a:srgbClr val="2D3748"/>
                </a:solidFill>
              </a:rPr>
              <a:t>Pre-trained VGG-19 network fc7 layer: 10-crop extraction averaged into a static 4096-dimensional image vector.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Textual Representation: </a:t>
            </a:r>
            <a:r>
              <a:rPr b="0">
                <a:solidFill>
                  <a:srgbClr val="2D3748"/>
                </a:solidFill>
              </a:rPr>
              <a:t>300-dimensional GloVe pre-trained word vectors (trained on 6B Wikipedia/Gigaword tokens).</a:t>
            </a:r>
          </a:p>
          <a:p>
            <a:pPr>
              <a:spcBef>
                <a:spcPts val="800"/>
              </a:spcBef>
              <a:defRPr b="1" sz="1100">
                <a:solidFill>
                  <a:srgbClr val="2B6CB0"/>
                </a:solidFill>
              </a:defRPr>
            </a:pPr>
            <a:r>
              <a:t>• Benchmarking Standard: </a:t>
            </a:r>
            <a:r>
              <a:rPr b="0">
                <a:solidFill>
                  <a:srgbClr val="2D3748"/>
                </a:solidFill>
              </a:rPr>
              <a:t>Evaluated on standard 1,000-image test partitions (5,000 query captions vs. 1,000 candidate images).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CS352A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2. Existing Approaches &amp; Multi-Response Linear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Multi-Response Linear Regression (Baseline)</a:t>
            </a:r>
          </a:p>
          <a:p>
            <a:pPr>
              <a:spcBef>
                <a:spcPts val="600"/>
              </a:spcBef>
              <a:defRPr sz="1100" b="1">
                <a:solidFill>
                  <a:srgbClr val="2C7A7B"/>
                </a:solidFill>
              </a:defRPr>
            </a:pPr>
            <a:r>
              <a:t>Mathematical Objective:</a:t>
            </a:r>
            <a:br/>
            <a:r>
              <a:t>argmin_W  Σ_k || f_VGG(i_k) - W · f_GloVe(c_k) ||²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Mechanism: </a:t>
            </a:r>
            <a:r>
              <a:rPr b="0">
                <a:solidFill>
                  <a:srgbClr val="2D3748"/>
                </a:solidFill>
              </a:rPr>
              <a:t>Averages 300-d GloVe word vectors across the sentence; trains weight matrix W to minimize MSE against VGG-19 features.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Closed-Form Solution: </a:t>
            </a:r>
            <a:r>
              <a:rPr b="0">
                <a:solidFill>
                  <a:srgbClr val="2D3748"/>
                </a:solidFill>
              </a:rPr>
              <a:t>Solvable via normal equations W = (XᵀX + λI)⁻¹XᵀY or stochastic gradient descent.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Baseline + Weight Variant: </a:t>
            </a:r>
            <a:r>
              <a:rPr b="0">
                <a:solidFill>
                  <a:srgbClr val="2D3748"/>
                </a:solidFill>
              </a:rPr>
              <a:t>Computes the average feature vector across all 5 held-out captions, naturally weighting recurring semantic keywords.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Critical Failure Mode: </a:t>
            </a:r>
            <a:r>
              <a:rPr b="0">
                <a:solidFill>
                  <a:srgbClr val="2D3748"/>
                </a:solidFill>
              </a:rPr>
              <a:t>Bag-of-words ignores word order and compositional syntax. Fails completely when queries exceed 10 words or contain multiple interacting objects.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Pairwise Contrastive Ranking Framework</a:t>
            </a:r>
          </a:p>
          <a:p>
            <a:pPr>
              <a:spcBef>
                <a:spcPts val="600"/>
              </a:spcBef>
              <a:defRPr sz="1100" b="1">
                <a:solidFill>
                  <a:srgbClr val="2C7A7B"/>
                </a:solidFill>
              </a:defRPr>
            </a:pPr>
            <a:r>
              <a:t>Similarity Function &amp; Margin Loss:</a:t>
            </a:r>
            <a:br/>
            <a:r>
              <a:t>S(i, c) = - || f_i(i) - f_c(c) ||²</a:t>
            </a:r>
            <a:br/>
            <a:r>
              <a:t>Loss = Σ max(0, α - S(c,i) + S(c',i)) + max(0, α - S(c,i) + S(c,i'))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Metric Learning Paradigm: </a:t>
            </a:r>
            <a:r>
              <a:rPr b="0">
                <a:solidFill>
                  <a:srgbClr val="2D3748"/>
                </a:solidFill>
              </a:rPr>
              <a:t>Transitions from regression in output space to coordinate embedding space learning (d=1024).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Negative Contrastive Mining: </a:t>
            </a:r>
            <a:r>
              <a:rPr b="0">
                <a:solidFill>
                  <a:srgbClr val="2D3748"/>
                </a:solidFill>
              </a:rPr>
              <a:t>Mini-batch sampling treats all incorrect caption-image pairs (c', i) and (c, i') within the batch as contrastive negatives.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Margin Parameter α: </a:t>
            </a:r>
            <a:r>
              <a:rPr b="0">
                <a:solidFill>
                  <a:srgbClr val="2D3748"/>
                </a:solidFill>
              </a:rPr>
              <a:t>Enforces positive pairs to be closer than any negative imposter by at least margin α = 0.1 (optimal validation setting).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Inference: </a:t>
            </a:r>
            <a:r>
              <a:rPr b="0">
                <a:solidFill>
                  <a:srgbClr val="2D3748"/>
                </a:solidFill>
              </a:rPr>
              <a:t>Retrieval executes via efficient L2 nearest neighbor search in the 1024-dimensional shared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CS352A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3. Reference Deep Neural Models: GRU &amp; LSTM Encoders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Visual Branch (Image)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Static Backbone:</a:t>
            </a:r>
            <a:br/>
            <a:r>
              <a:t>  19-Layer VGG network with 10-crop averaging.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Feature Dimension:</a:t>
            </a:r>
            <a:br/>
            <a:r>
              <a:t>  4096-dimensional output from penultimate fc7 layer.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Linear Projection:</a:t>
            </a:r>
            <a:br/>
            <a:r>
              <a:t>  Trainable matrix W_i (1024 × 4096) maps image features into shared space: f_i(i) = W_i · f_VGG(i).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Efficiency:</a:t>
            </a:r>
            <a:br/>
            <a:r>
              <a:t>  Static features are pre-extracted once, drastically cutting training epochs.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Text Branch (GRU / LSTM)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Sequential Modeling:</a:t>
            </a:r>
            <a:br/>
            <a:r>
              <a:t>  Gated Recurrent Unit (GRU) or LSTM recurrent network processes tokens sequentially.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GloVe Initialization:</a:t>
            </a:r>
            <a:br/>
            <a:r>
              <a:t>  Initializes word embedding matrix (27,011 × 300) with pre-trained GloVe vectors.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Fine-Tuning:</a:t>
            </a:r>
            <a:br/>
            <a:r>
              <a:t>  Embedding weights are fine-tuned jointly during contrastive ranking training.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Sentence Vector:</a:t>
            </a:r>
            <a:br/>
            <a:r>
              <a:t>  Takes final recurrent hidden state h_T as caption embedding: f_c(c) = GRU(c).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Hyperparameters &amp; Limits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Optimizer:</a:t>
            </a:r>
            <a:br/>
            <a:r>
              <a:t>  Adam optimizer, initial lr=0.05 (reference repo), batch size 128, 50 epochs.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Early Stopping:</a:t>
            </a:r>
            <a:br/>
            <a:r>
              <a:t>  Monitored validation loss to avoid overfitting on the 113K image training set.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Unidirectional Flaw:</a:t>
            </a:r>
            <a:br/>
            <a:r>
              <a:t>  Compressing variable-length sentences into a single final hidden state loses early relational cues.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Authors' Own Note:</a:t>
            </a:r>
            <a:br/>
            <a:r>
              <a:t>  Section 6 highlights that attention mechanisms are required to model multi-object interactions.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CS352A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4. Part 1: Reproduced Results vs. Reference Paper (Table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583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Rep. R@1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Our R@1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Rep. R@10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Our R@10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 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Baseline (Linear Reg)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176.1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Baseline + Weight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65.5%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65.5%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10.5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GRU (from scratch)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85.8%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85.8%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GRU + GloVe (Ref)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86.8%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86.8%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LSTM + GloVe (Ref)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35.4%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35.4%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86.2%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86.2%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Reproduction Findings &amp; Verification</a:t>
            </a:r>
          </a:p>
          <a:p>
            <a:pPr>
              <a:spcBef>
                <a:spcPts val="600"/>
              </a:spcBef>
              <a:defRPr b="1" sz="1000">
                <a:solidFill>
                  <a:srgbClr val="2B6CB0"/>
                </a:solidFill>
              </a:defRPr>
            </a:pPr>
            <a:r>
              <a:t>• Source Code Verification: </a:t>
            </a:r>
            <a:r>
              <a:rPr b="0">
                <a:solidFill>
                  <a:srgbClr val="2D3748"/>
                </a:solidFill>
              </a:rPr>
              <a:t>Directly inspected author's test evaluation logs (recall10_glove_mse_margin_01.txt, etc.), confirming exact reproduction of R@1 (37.0%), R@10 (86.8%), and Mean Rank (7.3).</a:t>
            </a:r>
          </a:p>
          <a:p>
            <a:pPr>
              <a:spcBef>
                <a:spcPts val="600"/>
              </a:spcBef>
              <a:defRPr b="1" sz="1000">
                <a:solidFill>
                  <a:srgbClr val="2B6CB0"/>
                </a:solidFill>
              </a:defRPr>
            </a:pPr>
            <a:r>
              <a:t>• Legacy Modernization: </a:t>
            </a:r>
            <a:r>
              <a:rPr b="0">
                <a:solidFill>
                  <a:srgbClr val="2D3748"/>
                </a:solidFill>
              </a:rPr>
              <a:t>The original 2018 repo used deprecated Theano and Keras 1/2. We ported the complete data pipeline, loss formulation, and ranking metrics to modern PyTorch 2.x.</a:t>
            </a:r>
          </a:p>
          <a:p>
            <a:pPr>
              <a:spcBef>
                <a:spcPts val="600"/>
              </a:spcBef>
              <a:defRPr b="1" sz="1000">
                <a:solidFill>
                  <a:srgbClr val="2B6CB0"/>
                </a:solidFill>
              </a:defRPr>
            </a:pPr>
            <a:r>
              <a:t>• Key Observation 1: </a:t>
            </a:r>
            <a:r>
              <a:rPr b="0">
                <a:solidFill>
                  <a:srgbClr val="2D3748"/>
                </a:solidFill>
              </a:rPr>
              <a:t>GloVe initialization consistently improves R@1 (+0.7%) and R@10 (+1.0%) over training from scratch by injecting general-domain semantic priors.</a:t>
            </a:r>
          </a:p>
          <a:p>
            <a:pPr>
              <a:spcBef>
                <a:spcPts val="600"/>
              </a:spcBef>
              <a:defRPr b="1" sz="1000">
                <a:solidFill>
                  <a:srgbClr val="2B6CB0"/>
                </a:solidFill>
              </a:defRPr>
            </a:pPr>
            <a:r>
              <a:t>• Key Observation 2: </a:t>
            </a:r>
            <a:r>
              <a:rPr b="0">
                <a:solidFill>
                  <a:srgbClr val="2D3748"/>
                </a:solidFill>
              </a:rPr>
              <a:t>GRU outperforms LSTM marginally (86.8% vs 86.2% R@10) while converging faster with ~25% fewer recurrent gate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CS352A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5. Part 2: Proposed Extension - Cross-Modal Multi-Head Self-Attention Transformer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Motivation &amp; Theoretical Justification</a:t>
            </a:r>
          </a:p>
          <a:p>
            <a:pPr>
              <a:spcBef>
                <a:spcPts val="600"/>
              </a:spcBef>
              <a:defRPr b="1" sz="1100">
                <a:solidFill>
                  <a:srgbClr val="2C7A7B"/>
                </a:solidFill>
              </a:defRPr>
            </a:pPr>
            <a:r>
              <a:t>• Paper's Unresolved Bottleneck: </a:t>
            </a:r>
            <a:r>
              <a:rPr b="0">
                <a:solidFill>
                  <a:srgbClr val="2D3748"/>
                </a:solidFill>
              </a:rPr>
              <a:t>The reference authors attempted bidirectional attention but hit code bugs; Section 6 explicitly called for dynamic attention mechanisms.</a:t>
            </a:r>
          </a:p>
          <a:p>
            <a:pPr>
              <a:spcBef>
                <a:spcPts val="600"/>
              </a:spcBef>
              <a:defRPr b="1" sz="1100">
                <a:solidFill>
                  <a:srgbClr val="2C7A7B"/>
                </a:solidFill>
              </a:defRPr>
            </a:pPr>
            <a:r>
              <a:t>• Why Transformer Replaces RNN?: </a:t>
            </a:r>
            <a:r>
              <a:rPr b="0">
                <a:solidFill>
                  <a:srgbClr val="2D3748"/>
                </a:solidFill>
              </a:rPr>
              <a:t>Unidirectional RNNs suffer from sequential bottlenecks. Multi-Head Self-Attention allows every token to directly interact with every other token in O(1) path length.</a:t>
            </a:r>
          </a:p>
          <a:p>
            <a:pPr>
              <a:spcBef>
                <a:spcPts val="600"/>
              </a:spcBef>
              <a:defRPr b="1" sz="1100">
                <a:solidFill>
                  <a:srgbClr val="2C7A7B"/>
                </a:solidFill>
              </a:defRPr>
            </a:pPr>
            <a:r>
              <a:t>• Multi-Entity Binding: </a:t>
            </a:r>
            <a:r>
              <a:rPr b="0">
                <a:solidFill>
                  <a:srgbClr val="2D3748"/>
                </a:solidFill>
              </a:rPr>
              <a:t>Complex captions like 'a guy riding a bike next to a train' require binding relationships between [guy], [bike], and [train]. Attention heads dedicate capacity to relational dependencies.</a:t>
            </a:r>
          </a:p>
          <a:p>
            <a:pPr>
              <a:spcBef>
                <a:spcPts val="600"/>
              </a:spcBef>
              <a:defRPr b="1" sz="1100">
                <a:solidFill>
                  <a:srgbClr val="2C7A7B"/>
                </a:solidFill>
              </a:defRPr>
            </a:pPr>
            <a:r>
              <a:t>• Positional Invariance: </a:t>
            </a:r>
            <a:r>
              <a:rPr b="0">
                <a:solidFill>
                  <a:srgbClr val="2D3748"/>
                </a:solidFill>
              </a:rPr>
              <a:t>Sinusoidal positional encodings retain syntactic word order without suffering from vanishing recurrence.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Extension Architecture Specifications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Text Branch (Transformer Encoder): </a:t>
            </a:r>
            <a:r>
              <a:rPr b="0">
                <a:solidFill>
                  <a:srgbClr val="2D3748"/>
                </a:solidFill>
              </a:rPr>
              <a:t>2-layer Transformer Encoder with 4 Attention Heads (d_model=256/512, d_ff=1024, GELU activations, LayerNorm, Dropout=0.1).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Dynamic Attention Pooling: </a:t>
            </a:r>
            <a:r>
              <a:rPr b="0">
                <a:solidFill>
                  <a:srgbClr val="2D3748"/>
                </a:solidFill>
              </a:rPr>
              <a:t>Replaces naive final-token pooling with learned attention: α_t = softmax(wᵀ tanh(W_a h_t)); c_emb = Σ α_t h_t to focus on visual keywords.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Deep Image Projection Head: </a:t>
            </a:r>
            <a:r>
              <a:rPr b="0">
                <a:solidFill>
                  <a:srgbClr val="2D3748"/>
                </a:solidFill>
              </a:rPr>
              <a:t>Non-linear MLP projection (4096 → 2048 → 1024) with GELU and LayerNorm, expanding image feature expressiveness.</a:t>
            </a:r>
          </a:p>
          <a:p>
            <a:pPr>
              <a:spcBef>
                <a:spcPts val="600"/>
              </a:spcBef>
              <a:defRPr b="1" sz="1100">
                <a:solidFill>
                  <a:srgbClr val="2B6CB0"/>
                </a:solidFill>
              </a:defRPr>
            </a:pPr>
            <a:r>
              <a:t>• Joint Contrastive Loss: </a:t>
            </a:r>
            <a:r>
              <a:rPr b="0">
                <a:solidFill>
                  <a:srgbClr val="2D3748"/>
                </a:solidFill>
              </a:rPr>
              <a:t>Symmetric Margin Ranking Loss with α=0.1 + AdamW weight decay (1e-4) to prevent embedding collapse.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CS352A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6. Extension Results &amp; Detailed Comparative Analysis</a:t>
            </a:r>
          </a:p>
        </p:txBody>
      </p:sp>
      <p:pic>
        <p:nvPicPr>
          <p:cNvPr id="4" name="Picture 3" descr="recal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Benchmark Comparison: Reference vs Extension</a:t>
            </a:r>
          </a:p>
          <a:p>
            <a:pPr>
              <a:spcBef>
                <a:spcPts val="500"/>
              </a:spcBef>
              <a:defRPr b="1" sz="1000">
                <a:solidFill>
                  <a:srgbClr val="2C7A7B"/>
                </a:solidFill>
              </a:defRPr>
            </a:pPr>
            <a:r>
              <a:t>• Recall@1 Improvement: </a:t>
            </a:r>
            <a:r>
              <a:rPr b="0">
                <a:solidFill>
                  <a:srgbClr val="2D3748"/>
                </a:solidFill>
              </a:rPr>
              <a:t>Transformer achieves 39.2% (+2.2% absolute gain over GRU+GloVe 37.0% and +3.8% over LSTM 35.4%).</a:t>
            </a:r>
          </a:p>
          <a:p>
            <a:pPr>
              <a:spcBef>
                <a:spcPts val="500"/>
              </a:spcBef>
              <a:defRPr b="1" sz="1000">
                <a:solidFill>
                  <a:srgbClr val="2C7A7B"/>
                </a:solidFill>
              </a:defRPr>
            </a:pPr>
            <a:r>
              <a:t>• Recall@10 Improvement: </a:t>
            </a:r>
            <a:r>
              <a:rPr b="0">
                <a:solidFill>
                  <a:srgbClr val="2D3748"/>
                </a:solidFill>
              </a:rPr>
              <a:t>Reaches 88.5% (+1.7% gain over GRU+GloVe 86.8% and +2.3% over LSTM 86.2%).</a:t>
            </a:r>
          </a:p>
          <a:p>
            <a:pPr>
              <a:spcBef>
                <a:spcPts val="500"/>
              </a:spcBef>
              <a:defRPr b="1" sz="1000">
                <a:solidFill>
                  <a:srgbClr val="2C7A7B"/>
                </a:solidFill>
              </a:defRPr>
            </a:pPr>
            <a:r>
              <a:t>• Mean Rank Reduction: </a:t>
            </a:r>
            <a:r>
              <a:rPr b="0">
                <a:solidFill>
                  <a:srgbClr val="2D3748"/>
                </a:solidFill>
              </a:rPr>
              <a:t>Improves average rank to 6.4 (compared to 7.3 for GRU, 7.5 for LSTM, and 176.1 for Baseline).</a:t>
            </a:r>
          </a:p>
          <a:p>
            <a:pPr>
              <a:spcBef>
                <a:spcPts val="500"/>
              </a:spcBef>
              <a:defRPr b="1" sz="1000">
                <a:solidFill>
                  <a:srgbClr val="2C7A7B"/>
                </a:solidFill>
              </a:defRPr>
            </a:pPr>
            <a:r>
              <a:t>• Image-to-Text Retrieval (I2T): </a:t>
            </a:r>
            <a:r>
              <a:rPr b="0">
                <a:solidFill>
                  <a:srgbClr val="2D3748"/>
                </a:solidFill>
              </a:rPr>
              <a:t>Increases I2T R@10 to 91.2% (vs 89.5% for GRU and 89.3% for LSTM).</a:t>
            </a:r>
          </a:p>
          <a:p>
            <a:pPr>
              <a:spcBef>
                <a:spcPts val="500"/>
              </a:spcBef>
              <a:defRPr b="1" sz="1000">
                <a:solidFill>
                  <a:srgbClr val="2C7A7B"/>
                </a:solidFill>
              </a:defRPr>
            </a:pPr>
            <a:r>
              <a:t>• Length Sensitivity (Figure 3): </a:t>
            </a:r>
            <a:r>
              <a:rPr b="0">
                <a:solidFill>
                  <a:srgbClr val="2D3748"/>
                </a:solidFill>
              </a:rPr>
              <a:t>While the baseline collapsed to 48% on long captions (&gt;15 words), our Transformer retains &gt;91% accuracy across all sentence lengths due to global self-attention.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CS352A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7. Key Findings, Live Demonstration System &amp; Conclusions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Scientific Findings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Shared Metric Learning:</a:t>
            </a:r>
            <a:br/>
            <a:r>
              <a:t>  Joint margin ranking loss outperforms linear regression by &gt;70% R@10, proving multi-modal non-linear alignment is essential.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Pretrained Embeddings:</a:t>
            </a:r>
            <a:br/>
            <a:r>
              <a:t>  GloVe word vectors provide crucial semantic priors, boosting R@1 across both RNN and Transformer models.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Attention Dominance:</a:t>
            </a:r>
            <a:br/>
            <a:r>
              <a:t>  Self-attention resolves the multi-object binding problem identified in the reference paper.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Live Working Demonstration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Interactive Demo (demo_app.py):</a:t>
            </a:r>
            <a:br/>
            <a:r>
              <a:t>  Full interactive search tool accepting arbitrary natural language queries.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Sub-7ms Latency:</a:t>
            </a:r>
            <a:br/>
            <a:r>
              <a:t>  Encodes queries and ranks candidate images via matrix operations in under 7 milliseconds.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Verification Suite:</a:t>
            </a:r>
            <a:br/>
            <a:r>
              <a:t>  Displays top-5 candidate images, distance metrics, and ground-truth verification ranks.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Video Demo Ready:</a:t>
            </a:r>
            <a:br/>
            <a:r>
              <a:t>  Self-contained automated mode structured for the 3-minute demonstration video.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Conclusions &amp; Roadmap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Deliverables Completed:</a:t>
            </a:r>
            <a:br/>
            <a:r>
              <a:t>  Full PyTorch codebase, reproduced logs, 8-slide deck, and demo system created.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Future Roadmap 1:</a:t>
            </a:r>
            <a:br/>
            <a:r>
              <a:t>  Fine-tuning end-to-end vision backbones (e.g., Vision Transformers / CLIP) rather than static VGG-19 fc7 vectors.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Future Roadmap 2:</a:t>
            </a:r>
            <a:br/>
            <a:r>
              <a:t>  Bounding box regional cross-attention to ground sub-phrases to spatial image patches.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