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c565f777-9d25-a7c2-263f-11ddb628dc0f}">
          <p14:sldIdLst>
            <p14:sldId id="256"/>
          </p14:sldIdLst>
        </p14:section>
        <p14:section name="Background" id="{6b892bb6-df57-b73b-0273-680c894f0bfc}">
          <p14:sldIdLst>
            <p14:sldId id="257"/>
            <p14:sldId id="258"/>
          </p14:sldIdLst>
        </p14:section>
        <p14:section name="Models" id="{c679a540-2148-cc6b-5f62-a1a7638465c0}">
          <p14:sldIdLst>
            <p14:sldId id="259"/>
            <p14:sldId id="260"/>
            <p14:sldId id="261"/>
          </p14:sldIdLst>
        </p14:section>
        <p14:section name="Results" id="{1959dd9b-7561-b1ce-bdda-84c3eabae5ee}">
          <p14:sldIdLst>
            <p14:sldId id="262"/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1737360"/>
            <a:ext cx="6766560" cy="21031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22960" y="4023360"/>
            <a:ext cx="676656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1737360"/>
            <a:ext cx="67665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Neural Caption-Image Retrieval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22960" y="4023360"/>
            <a:ext cx="6766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Reproducing CS229 (Lamberti &amp; Qian) and extending with a Cross-Modal Self-Attention Transformer</a:t>
            </a:r>
            <a:endParaRPr lang="en-US" sz="1800" dirty="0"/>
          </a:p>
        </p:txBody>
      </p:sp>
      <p:sp>
        <p:nvSpPr>
          <p:cNvPr id="4" name="Footer tag"/>
          <p:cNvSpPr txBox="1"/>
          <p:nvPr/>
        </p:nvSpPr>
        <p:spPr>
          <a:xfrm>
            <a:off x="822960" y="576072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2"/>
                </a:solidFill>
              </a:rPr>
              <a:t>Machine Learning Mini Project  |  PES University</a:t>
            </a:r>
            <a:endParaRPr lang="en-US" sz="1400" dirty="0"/>
          </a:p>
        </p:txBody>
      </p:sp>
      <p:sp>
        <p:nvSpPr>
          <p:cNvPr id="5" name="Caption node"/>
          <p:cNvSpPr/>
          <p:nvPr/>
        </p:nvSpPr>
        <p:spPr>
          <a:xfrm>
            <a:off x="8412480" y="1463040"/>
            <a:ext cx="3108960" cy="822960"/>
          </a:xfrm>
          <a:prstGeom prst="roundRect">
            <a:avLst>
              <a:gd name="adj" fmla="val 13333"/>
            </a:avLst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6" name="Caption node text"/>
          <p:cNvSpPr txBox="1"/>
          <p:nvPr/>
        </p:nvSpPr>
        <p:spPr>
          <a:xfrm>
            <a:off x="8412480" y="146304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bg1"/>
                </a:solidFill>
              </a:rPr>
              <a:t>“A dog running on a beach”</a:t>
            </a:r>
            <a:endParaRPr lang="en-US" sz="1400" dirty="0"/>
          </a:p>
        </p:txBody>
      </p:sp>
      <p:sp>
        <p:nvSpPr>
          <p:cNvPr id="7" name="Arrow caption"/>
          <p:cNvSpPr/>
          <p:nvPr/>
        </p:nvSpPr>
        <p:spPr>
          <a:xfrm>
            <a:off x="9966960" y="2331720"/>
            <a:ext cx="0" cy="548640"/>
          </a:xfrm>
          <a:prstGeom prst="line">
            <a:avLst/>
          </a:prstGeom>
          <a:noFill/>
          <a:ln w="25400">
            <a:solidFill>
              <a:schemeClr val="bg2"/>
            </a:solidFill>
            <a:prstDash val="solid"/>
            <a:tailEnd type="triangle"/>
          </a:ln>
        </p:spPr>
      </p:sp>
      <p:sp>
        <p:nvSpPr>
          <p:cNvPr id="8" name="Shared space node"/>
          <p:cNvSpPr/>
          <p:nvPr/>
        </p:nvSpPr>
        <p:spPr>
          <a:xfrm>
            <a:off x="9144000" y="2926080"/>
            <a:ext cx="1645920" cy="1645920"/>
          </a:xfrm>
          <a:prstGeom prst="ellipse">
            <a:avLst/>
          </a:prstGeom>
          <a:solidFill>
            <a:schemeClr val="accent2"/>
          </a:solidFill>
          <a:ln w="6350">
            <a:solidFill>
              <a:schemeClr val="accent2"/>
            </a:solidFill>
            <a:prstDash val="solid"/>
          </a:ln>
        </p:spPr>
      </p:sp>
      <p:sp>
        <p:nvSpPr>
          <p:cNvPr id="9" name="Shared space text"/>
          <p:cNvSpPr txBox="1"/>
          <p:nvPr/>
        </p:nvSpPr>
        <p:spPr>
          <a:xfrm>
            <a:off x="9281160" y="3154680"/>
            <a:ext cx="1371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Shared embedding space</a:t>
            </a:r>
            <a:endParaRPr lang="en-US" sz="1400" dirty="0"/>
          </a:p>
        </p:txBody>
      </p:sp>
      <p:sp>
        <p:nvSpPr>
          <p:cNvPr id="10" name="Arrow image"/>
          <p:cNvSpPr/>
          <p:nvPr/>
        </p:nvSpPr>
        <p:spPr>
          <a:xfrm flipV="1">
            <a:off x="9966960" y="4617720"/>
            <a:ext cx="0" cy="548640"/>
          </a:xfrm>
          <a:prstGeom prst="line">
            <a:avLst/>
          </a:prstGeom>
          <a:noFill/>
          <a:ln w="25400">
            <a:solidFill>
              <a:schemeClr val="bg2"/>
            </a:solidFill>
            <a:prstDash val="solid"/>
            <a:tailEnd type="triangle"/>
          </a:ln>
        </p:spPr>
      </p:sp>
      <p:sp>
        <p:nvSpPr>
          <p:cNvPr id="11" name="Image node"/>
          <p:cNvSpPr/>
          <p:nvPr/>
        </p:nvSpPr>
        <p:spPr>
          <a:xfrm>
            <a:off x="8412480" y="5212080"/>
            <a:ext cx="3108960" cy="822960"/>
          </a:xfrm>
          <a:prstGeom prst="roundRect">
            <a:avLst>
              <a:gd name="adj" fmla="val 13333"/>
            </a:avLst>
          </a:prstGeom>
          <a:solidFill>
            <a:schemeClr val="accent4"/>
          </a:solidFill>
          <a:ln w="6350">
            <a:solidFill>
              <a:schemeClr val="accent4"/>
            </a:solidFill>
            <a:prstDash val="solid"/>
          </a:ln>
        </p:spPr>
      </p:sp>
      <p:sp>
        <p:nvSpPr>
          <p:cNvPr id="12" name="Image node text"/>
          <p:cNvSpPr txBox="1"/>
          <p:nvPr/>
        </p:nvSpPr>
        <p:spPr>
          <a:xfrm>
            <a:off x="8412480" y="521208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Image  (VGG-19 fc7)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1 · The Project &amp; Why It Matters</a:t>
            </a:r>
            <a:endParaRPr lang="en-US" sz="3000" dirty="0"/>
          </a:p>
        </p:txBody>
      </p:sp>
      <p:sp>
        <p:nvSpPr>
          <p:cNvPr id="3" name="Left heading"/>
          <p:cNvSpPr txBox="1"/>
          <p:nvPr/>
        </p:nvSpPr>
        <p:spPr>
          <a:xfrm>
            <a:off x="548640" y="1188720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What is the project?</a:t>
            </a:r>
            <a:endParaRPr lang="en-US" sz="1700" dirty="0"/>
          </a:p>
        </p:txBody>
      </p:sp>
      <p:sp>
        <p:nvSpPr>
          <p:cNvPr id="4" name="Project bullets"/>
          <p:cNvSpPr txBox="1"/>
          <p:nvPr/>
        </p:nvSpPr>
        <p:spPr>
          <a:xfrm>
            <a:off x="548640" y="1554480"/>
            <a:ext cx="55778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Cross-modal retrieval: find items in one modality using a query from another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Text→Image: caption in, matching image out; Image→Text: image in, matching captions out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Example: “A dog running on a sandy beach near the ocean” → retrieve that exact image from thousands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Applications: image search engines, visual QA, auto-captioning, video-to-text alignment</a:t>
            </a:r>
            <a:endParaRPr lang="en-US" sz="1400" dirty="0"/>
          </a:p>
        </p:txBody>
      </p:sp>
      <p:sp>
        <p:nvSpPr>
          <p:cNvPr id="5" name="Part 1 card"/>
          <p:cNvSpPr/>
          <p:nvPr/>
        </p:nvSpPr>
        <p:spPr>
          <a:xfrm>
            <a:off x="548640" y="4251960"/>
            <a:ext cx="2697480" cy="1737360"/>
          </a:xfrm>
          <a:prstGeom prst="roundRect">
            <a:avLst>
              <a:gd name="adj" fmla="val 4211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Part 1"/>
          <p:cNvSpPr txBox="1"/>
          <p:nvPr/>
        </p:nvSpPr>
        <p:spPr>
          <a:xfrm>
            <a:off x="731520" y="4361688"/>
            <a:ext cx="2331720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Part 1: Reproduce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GRU + GloVe, LSTM + GloVe and Linear Baseline from the CS229 paper</a:t>
            </a:r>
            <a:endParaRPr lang="en-US" sz="1500" dirty="0"/>
          </a:p>
        </p:txBody>
      </p:sp>
      <p:sp>
        <p:nvSpPr>
          <p:cNvPr id="7" name="Part 2 card"/>
          <p:cNvSpPr/>
          <p:nvPr/>
        </p:nvSpPr>
        <p:spPr>
          <a:xfrm>
            <a:off x="3429000" y="4251960"/>
            <a:ext cx="2697480" cy="1737360"/>
          </a:xfrm>
          <a:prstGeom prst="roundRect">
            <a:avLst>
              <a:gd name="adj" fmla="val 4211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Part 2"/>
          <p:cNvSpPr txBox="1"/>
          <p:nvPr/>
        </p:nvSpPr>
        <p:spPr>
          <a:xfrm>
            <a:off x="3611880" y="4361688"/>
            <a:ext cx="2331720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Part 2: Extend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One new model: Cross-Modal Self-Attention Transformer</a:t>
            </a:r>
            <a:endParaRPr lang="en-US" sz="1500" dirty="0"/>
          </a:p>
        </p:txBody>
      </p:sp>
      <p:sp>
        <p:nvSpPr>
          <p:cNvPr id="9" name="Right heading"/>
          <p:cNvSpPr txBox="1"/>
          <p:nvPr/>
        </p:nvSpPr>
        <p:spPr>
          <a:xfrm>
            <a:off x="6492240" y="1188720"/>
            <a:ext cx="5166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Why it matters: a shared semantic space</a:t>
            </a:r>
            <a:endParaRPr lang="en-US" sz="1700" dirty="0"/>
          </a:p>
        </p:txBody>
      </p:sp>
      <p:sp>
        <p:nvSpPr>
          <p:cNvPr id="10" name="Why bullets"/>
          <p:cNvSpPr txBox="1"/>
          <p:nvPr/>
        </p:nvSpPr>
        <p:spPr>
          <a:xfrm>
            <a:off x="6492240" y="1554480"/>
            <a:ext cx="51663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Keyword search matches text to text; cross-modal needs a shared embedding space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Matched image-caption pairs must be close, mismatched pairs far apart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Core challenge: images are pixels/CNN features, text is a word sequence — different spaces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 neural network projects both into one d-dimensional space (d = 1024 reference, 256 Transformer)</a:t>
            </a:r>
            <a:endParaRPr lang="en-US" sz="1400" dirty="0"/>
          </a:p>
        </p:txBody>
      </p:sp>
      <p:sp>
        <p:nvSpPr>
          <p:cNvPr id="11" name="Flow box 1"/>
          <p:cNvSpPr/>
          <p:nvPr/>
        </p:nvSpPr>
        <p:spPr>
          <a:xfrm>
            <a:off x="6492240" y="4251960"/>
            <a:ext cx="5166360" cy="502920"/>
          </a:xfrm>
          <a:prstGeom prst="roundRect">
            <a:avLst>
              <a:gd name="adj" fmla="val 14545"/>
            </a:avLst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12" name="Flow text 1"/>
          <p:cNvSpPr txBox="1"/>
          <p:nvPr/>
        </p:nvSpPr>
        <p:spPr>
          <a:xfrm>
            <a:off x="6492240" y="4251960"/>
            <a:ext cx="5166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Caption → Text Encoder f_c → v_c ∈ ℝ^d</a:t>
            </a:r>
            <a:endParaRPr lang="en-US" sz="1400" dirty="0"/>
          </a:p>
        </p:txBody>
      </p:sp>
      <p:sp>
        <p:nvSpPr>
          <p:cNvPr id="13" name="Flow box 2"/>
          <p:cNvSpPr/>
          <p:nvPr/>
        </p:nvSpPr>
        <p:spPr>
          <a:xfrm>
            <a:off x="6492240" y="4864608"/>
            <a:ext cx="5166360" cy="502920"/>
          </a:xfrm>
          <a:prstGeom prst="roundRect">
            <a:avLst>
              <a:gd name="adj" fmla="val 14545"/>
            </a:avLst>
          </a:prstGeom>
          <a:solidFill>
            <a:schemeClr val="accent2"/>
          </a:solidFill>
          <a:ln w="6350">
            <a:solidFill>
              <a:schemeClr val="accent2"/>
            </a:solidFill>
            <a:prstDash val="solid"/>
          </a:ln>
        </p:spPr>
      </p:sp>
      <p:sp>
        <p:nvSpPr>
          <p:cNvPr id="14" name="Flow text 2"/>
          <p:cNvSpPr txBox="1"/>
          <p:nvPr/>
        </p:nvSpPr>
        <p:spPr>
          <a:xfrm>
            <a:off x="6492240" y="4864608"/>
            <a:ext cx="5166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Compare: Similarity S(c, i)</a:t>
            </a:r>
            <a:endParaRPr lang="en-US" sz="1400" dirty="0"/>
          </a:p>
        </p:txBody>
      </p:sp>
      <p:sp>
        <p:nvSpPr>
          <p:cNvPr id="15" name="Flow box 3"/>
          <p:cNvSpPr/>
          <p:nvPr/>
        </p:nvSpPr>
        <p:spPr>
          <a:xfrm>
            <a:off x="6492240" y="5477256"/>
            <a:ext cx="5166360" cy="502920"/>
          </a:xfrm>
          <a:prstGeom prst="roundRect">
            <a:avLst>
              <a:gd name="adj" fmla="val 14545"/>
            </a:avLst>
          </a:prstGeom>
          <a:solidFill>
            <a:schemeClr val="tx2"/>
          </a:solidFill>
          <a:ln w="6350">
            <a:solidFill>
              <a:schemeClr val="tx2"/>
            </a:solidFill>
            <a:prstDash val="solid"/>
          </a:ln>
        </p:spPr>
      </p:sp>
      <p:sp>
        <p:nvSpPr>
          <p:cNvPr id="16" name="Flow text 3"/>
          <p:cNvSpPr txBox="1"/>
          <p:nvPr/>
        </p:nvSpPr>
        <p:spPr>
          <a:xfrm>
            <a:off x="6492240" y="5477256"/>
            <a:ext cx="5166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Image → Image Encoder f_i → v_i ∈ ℝ^d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2 · Dataset (MS COCO) &amp; Mathematical Background</a:t>
            </a:r>
            <a:endParaRPr lang="en-US" sz="3000" dirty="0"/>
          </a:p>
        </p:txBody>
      </p:sp>
      <p:sp>
        <p:nvSpPr>
          <p:cNvPr id="3" name="Dataset heading"/>
          <p:cNvSpPr txBox="1"/>
          <p:nvPr/>
        </p:nvSpPr>
        <p:spPr>
          <a:xfrm>
            <a:off x="548640" y="118872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Dataset: Microsoft COCO</a:t>
            </a:r>
            <a:endParaRPr lang="en-US" sz="1700" dirty="0"/>
          </a:p>
        </p:txBody>
      </p:sp>
      <p:graphicFrame>
        <p:nvGraphicFramePr>
          <p:cNvPr id="4" name="Dataset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539496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3017520"/>
              </a:tblGrid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Property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Value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Total images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123,287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Captions / image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5 (human-written)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Total captions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~616,000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Train (Karpathy)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113,287 images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Validation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5,000 images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Test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5,000 (standard 1K partition)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5" name="Image features card"/>
          <p:cNvSpPr/>
          <p:nvPr/>
        </p:nvSpPr>
        <p:spPr>
          <a:xfrm>
            <a:off x="548640" y="3794760"/>
            <a:ext cx="5394960" cy="713232"/>
          </a:xfrm>
          <a:prstGeom prst="roundRect">
            <a:avLst>
              <a:gd name="adj" fmla="val 10256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Image features"/>
          <p:cNvSpPr txBox="1"/>
          <p:nvPr/>
        </p:nvSpPr>
        <p:spPr>
          <a:xfrm>
            <a:off x="731520" y="3904488"/>
            <a:ext cx="5029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Image: VGG-19 fc7 (4096-d) 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Pre-extracted, 10-crop averaged; ImageNet-trained visual semantics</a:t>
            </a:r>
            <a:endParaRPr lang="en-US" sz="1200" dirty="0"/>
          </a:p>
        </p:txBody>
      </p:sp>
      <p:sp>
        <p:nvSpPr>
          <p:cNvPr id="7" name="Text features card"/>
          <p:cNvSpPr/>
          <p:nvPr/>
        </p:nvSpPr>
        <p:spPr>
          <a:xfrm>
            <a:off x="548640" y="4617720"/>
            <a:ext cx="5394960" cy="713232"/>
          </a:xfrm>
          <a:prstGeom prst="roundRect">
            <a:avLst>
              <a:gd name="adj" fmla="val 10256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Text features"/>
          <p:cNvSpPr txBox="1"/>
          <p:nvPr/>
        </p:nvSpPr>
        <p:spPr>
          <a:xfrm>
            <a:off x="731520" y="4727448"/>
            <a:ext cx="5029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Text: GloVe (300-d) 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Pre-trained on 840B Common Crawl tokens, fine-tuned jointly</a:t>
            </a:r>
            <a:endParaRPr lang="en-US" sz="1200" dirty="0"/>
          </a:p>
        </p:txBody>
      </p:sp>
      <p:sp>
        <p:nvSpPr>
          <p:cNvPr id="9" name="Synthetic benchmark card"/>
          <p:cNvSpPr/>
          <p:nvPr/>
        </p:nvSpPr>
        <p:spPr>
          <a:xfrm>
            <a:off x="548640" y="5440680"/>
            <a:ext cx="5394960" cy="822960"/>
          </a:xfrm>
          <a:prstGeom prst="roundRect">
            <a:avLst>
              <a:gd name="adj" fmla="val 8889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Synthetic benchmark"/>
          <p:cNvSpPr txBox="1"/>
          <p:nvPr/>
        </p:nvSpPr>
        <p:spPr>
          <a:xfrm>
            <a:off x="731520" y="5550408"/>
            <a:ext cx="5029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Synthetic benchmark (offline) 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generate_benchmark_dataset(): 8 semantic clusters, 4096-d features, 2,000 train / 400 test pairs</a:t>
            </a:r>
            <a:endParaRPr lang="en-US" sz="1200" dirty="0"/>
          </a:p>
        </p:txBody>
      </p:sp>
      <p:sp>
        <p:nvSpPr>
          <p:cNvPr id="11" name="Math heading"/>
          <p:cNvSpPr txBox="1"/>
          <p:nvPr/>
        </p:nvSpPr>
        <p:spPr>
          <a:xfrm>
            <a:off x="6263640" y="1188720"/>
            <a:ext cx="5376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Mathematical background</a:t>
            </a:r>
            <a:endParaRPr lang="en-US" sz="1700" dirty="0"/>
          </a:p>
        </p:txBody>
      </p:sp>
      <p:sp>
        <p:nvSpPr>
          <p:cNvPr id="12" name="Similarity card"/>
          <p:cNvSpPr/>
          <p:nvPr/>
        </p:nvSpPr>
        <p:spPr>
          <a:xfrm>
            <a:off x="6263640" y="1554480"/>
            <a:ext cx="5376672" cy="1005840"/>
          </a:xfrm>
          <a:prstGeom prst="roundRect">
            <a:avLst>
              <a:gd name="adj" fmla="val 7273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Similarity"/>
          <p:cNvSpPr txBox="1"/>
          <p:nvPr/>
        </p:nvSpPr>
        <p:spPr>
          <a:xfrm>
            <a:off x="6446520" y="1664208"/>
            <a:ext cx="501091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Similarity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S(c,i) = −‖f_i(i) − f_c(c)‖²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Negative squared Euclidean distance; higher = more similar</a:t>
            </a:r>
            <a:endParaRPr lang="en-US" sz="1500" dirty="0"/>
          </a:p>
        </p:txBody>
      </p:sp>
      <p:sp>
        <p:nvSpPr>
          <p:cNvPr id="14" name="Loss card"/>
          <p:cNvSpPr/>
          <p:nvPr/>
        </p:nvSpPr>
        <p:spPr>
          <a:xfrm>
            <a:off x="6263640" y="2697480"/>
            <a:ext cx="5376672" cy="1600200"/>
          </a:xfrm>
          <a:prstGeom prst="roundRect">
            <a:avLst>
              <a:gd name="adj" fmla="val 4571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Loss"/>
          <p:cNvSpPr txBox="1"/>
          <p:nvPr/>
        </p:nvSpPr>
        <p:spPr>
          <a:xfrm>
            <a:off x="6446520" y="2807208"/>
            <a:ext cx="5010912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Contrastive Margin Ranking Loss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chemeClr val="tx1"/>
                </a:solidFill>
              </a:rPr>
              <a:t>L = Σ max(0, α − S(c,i) + S(c′,i)) + Σ max(0, α − S(c,i) + S(c,i′))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c′ = wrong caption, i′ = wrong image in batch; α = margin. Zero loss if the positive already wins by α.</a:t>
            </a:r>
            <a:endParaRPr lang="en-US" sz="1500" dirty="0"/>
          </a:p>
        </p:txBody>
      </p:sp>
      <p:graphicFrame>
        <p:nvGraphicFramePr>
          <p:cNvPr id="7" name="Metric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63640" y="4434840"/>
          <a:ext cx="5376672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913632"/>
              </a:tblGrid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Metric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Meaning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Recall@1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Correct item ranked #1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Recall@5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Correct item in top 5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Recall@10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Correct item in top 10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Mean Rank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Avg position of correct item (lower is better)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17" name="Eval note"/>
          <p:cNvSpPr txBox="1"/>
          <p:nvPr/>
        </p:nvSpPr>
        <p:spPr>
          <a:xfrm>
            <a:off x="6263640" y="6035040"/>
            <a:ext cx="5376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4"/>
                </a:solidFill>
              </a:rPr>
              <a:t>Evaluated both ways: Text→Image (T2I) and Image→Text (I2T)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3 · Reproduced Models: Linear, GRU &amp; LSTM</a:t>
            </a:r>
            <a:endParaRPr lang="en-US" sz="3000" dirty="0"/>
          </a:p>
        </p:txBody>
      </p:sp>
      <p:sp>
        <p:nvSpPr>
          <p:cNvPr id="3" name="Linear card card"/>
          <p:cNvSpPr/>
          <p:nvPr/>
        </p:nvSpPr>
        <p:spPr>
          <a:xfrm>
            <a:off x="548640" y="1188720"/>
            <a:ext cx="3575304" cy="3154680"/>
          </a:xfrm>
          <a:prstGeom prst="roundRect">
            <a:avLst>
              <a:gd name="adj" fmla="val 2319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4" name="Linear card"/>
          <p:cNvSpPr txBox="1"/>
          <p:nvPr/>
        </p:nvSpPr>
        <p:spPr>
          <a:xfrm>
            <a:off x="731520" y="1298448"/>
            <a:ext cx="3209544" cy="2935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Linear Baseline (Ridge Regression)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Averaged GloVe (300-d) → Linear W (300→4096) → image space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Ignores word order: “dog bites man” = “man bites dog”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Reported: R@1 ≈ 10.3%, Mean Rank ≈ 176 — near random on a 1K database</a:t>
            </a:r>
            <a:endParaRPr lang="en-US" sz="1500" dirty="0"/>
          </a:p>
        </p:txBody>
      </p:sp>
      <p:sp>
        <p:nvSpPr>
          <p:cNvPr id="5" name="GRU card card"/>
          <p:cNvSpPr/>
          <p:nvPr/>
        </p:nvSpPr>
        <p:spPr>
          <a:xfrm>
            <a:off x="4306824" y="1188720"/>
            <a:ext cx="3575304" cy="3154680"/>
          </a:xfrm>
          <a:prstGeom prst="roundRect">
            <a:avLst>
              <a:gd name="adj" fmla="val 2319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GRU card"/>
          <p:cNvSpPr txBox="1"/>
          <p:nvPr/>
        </p:nvSpPr>
        <p:spPr>
          <a:xfrm>
            <a:off x="4489704" y="1298448"/>
            <a:ext cx="3209544" cy="2935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GRU + GloVe (reproduction)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GloVe 300-d → GRU (1024-d) → last hidden state → L2-norm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Image: VGG fc7 → Linear (4096→1024) → L2-norm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Loss α = 0.1, Adam lr 2e-4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accent4"/>
                </a:solidFill>
              </a:rPr>
              <a:t>z_t = σ(W_z x_t + U_z h_{t-1}),  r_t = σ(W_r x_t + U_r h_{t-1})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accent4"/>
                </a:solidFill>
              </a:rPr>
              <a:t>h̃_t = tanh(W x_t + U(r_t ⊙ h_{t-1}))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h_t = (1−z_t)⊙h_{t-1} + z_t⊙h̃_t</a:t>
            </a:r>
            <a:endParaRPr lang="en-US" sz="1500" dirty="0"/>
          </a:p>
        </p:txBody>
      </p:sp>
      <p:sp>
        <p:nvSpPr>
          <p:cNvPr id="7" name="LSTM card card"/>
          <p:cNvSpPr/>
          <p:nvPr/>
        </p:nvSpPr>
        <p:spPr>
          <a:xfrm>
            <a:off x="8065008" y="1188720"/>
            <a:ext cx="3575304" cy="3154680"/>
          </a:xfrm>
          <a:prstGeom prst="roundRect">
            <a:avLst>
              <a:gd name="adj" fmla="val 2319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LSTM card"/>
          <p:cNvSpPr txBox="1"/>
          <p:nvPr/>
        </p:nvSpPr>
        <p:spPr>
          <a:xfrm>
            <a:off x="8247888" y="1298448"/>
            <a:ext cx="3209544" cy="2935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LSTM + GloVe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Same pipeline as GRU, with LSTM cells instead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Reported R@1 ≈ 35.4%, only slightly below GRU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Both encoders capture word order and long-range dependencies, unlike the linear baseline</a:t>
            </a:r>
            <a:endParaRPr lang="en-US" sz="1500" dirty="0"/>
          </a:p>
        </p:txBody>
      </p:sp>
      <p:graphicFrame>
        <p:nvGraphicFramePr>
          <p:cNvPr id="5" name="LSTM vs GRU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526280"/>
          <a:ext cx="11091672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4389120"/>
                <a:gridCol w="4416552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LSTM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GRU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Gates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3 (forget, input, output)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 (update, reset)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Memory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Separate cell state C_t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Cell + hidden merged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Trade-off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Slightly more expressive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Faster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Hidden dim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1024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1024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4 · Extension: Cross-Modal Self-Attention Transformer</a:t>
            </a:r>
            <a:endParaRPr lang="en-US" sz="3000" dirty="0"/>
          </a:p>
        </p:txBody>
      </p:sp>
      <p:sp>
        <p:nvSpPr>
          <p:cNvPr id="3" name="Step card 1"/>
          <p:cNvSpPr/>
          <p:nvPr/>
        </p:nvSpPr>
        <p:spPr>
          <a:xfrm>
            <a:off x="548640" y="1188720"/>
            <a:ext cx="6309360" cy="868680"/>
          </a:xfrm>
          <a:prstGeom prst="roundRect">
            <a:avLst>
              <a:gd name="adj" fmla="val 8421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4" name="Step badge 1"/>
          <p:cNvSpPr/>
          <p:nvPr/>
        </p:nvSpPr>
        <p:spPr>
          <a:xfrm>
            <a:off x="731520" y="1389888"/>
            <a:ext cx="457200" cy="45720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5" name="Step number 1"/>
          <p:cNvSpPr txBox="1"/>
          <p:nvPr/>
        </p:nvSpPr>
        <p:spPr>
          <a:xfrm>
            <a:off x="731520" y="13898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Step text 1"/>
          <p:cNvSpPr txBox="1"/>
          <p:nvPr/>
        </p:nvSpPr>
        <p:spPr>
          <a:xfrm>
            <a:off x="1417320" y="1261872"/>
            <a:ext cx="5303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Text input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GloVe 300-d → Linear (300→256) + sinusoidal positional encoding</a:t>
            </a:r>
            <a:endParaRPr lang="en-US" sz="1500" dirty="0"/>
          </a:p>
        </p:txBody>
      </p:sp>
      <p:sp>
        <p:nvSpPr>
          <p:cNvPr id="7" name="Step card 2"/>
          <p:cNvSpPr/>
          <p:nvPr/>
        </p:nvSpPr>
        <p:spPr>
          <a:xfrm>
            <a:off x="548640" y="2167128"/>
            <a:ext cx="6309360" cy="868680"/>
          </a:xfrm>
          <a:prstGeom prst="roundRect">
            <a:avLst>
              <a:gd name="adj" fmla="val 8421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Step badge 2"/>
          <p:cNvSpPr/>
          <p:nvPr/>
        </p:nvSpPr>
        <p:spPr>
          <a:xfrm>
            <a:off x="731520" y="2368296"/>
            <a:ext cx="457200" cy="45720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9" name="Step number 2"/>
          <p:cNvSpPr txBox="1"/>
          <p:nvPr/>
        </p:nvSpPr>
        <p:spPr>
          <a:xfrm>
            <a:off x="731520" y="23682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0" name="Step text 2"/>
          <p:cNvSpPr txBox="1"/>
          <p:nvPr/>
        </p:nvSpPr>
        <p:spPr>
          <a:xfrm>
            <a:off x="1417320" y="2240280"/>
            <a:ext cx="5303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Encoder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2 layers, 4 heads, FFN 1024, GELU, dropout 0.1</a:t>
            </a:r>
            <a:endParaRPr lang="en-US" sz="1500" dirty="0"/>
          </a:p>
        </p:txBody>
      </p:sp>
      <p:sp>
        <p:nvSpPr>
          <p:cNvPr id="11" name="Step card 3"/>
          <p:cNvSpPr/>
          <p:nvPr/>
        </p:nvSpPr>
        <p:spPr>
          <a:xfrm>
            <a:off x="548640" y="3145536"/>
            <a:ext cx="6309360" cy="868680"/>
          </a:xfrm>
          <a:prstGeom prst="roundRect">
            <a:avLst>
              <a:gd name="adj" fmla="val 8421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2" name="Step badge 3"/>
          <p:cNvSpPr/>
          <p:nvPr/>
        </p:nvSpPr>
        <p:spPr>
          <a:xfrm>
            <a:off x="731520" y="3346704"/>
            <a:ext cx="457200" cy="45720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13" name="Step number 3"/>
          <p:cNvSpPr txBox="1"/>
          <p:nvPr/>
        </p:nvSpPr>
        <p:spPr>
          <a:xfrm>
            <a:off x="731520" y="33467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4" name="Step text 3"/>
          <p:cNvSpPr txBox="1"/>
          <p:nvPr/>
        </p:nvSpPr>
        <p:spPr>
          <a:xfrm>
            <a:off x="1417320" y="3218688"/>
            <a:ext cx="5303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Dynamic Attention Pooling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α_t = softmax(w·h_t),  v_caption = Σ α_t · h_t</a:t>
            </a:r>
            <a:endParaRPr lang="en-US" sz="1500" dirty="0"/>
          </a:p>
        </p:txBody>
      </p:sp>
      <p:sp>
        <p:nvSpPr>
          <p:cNvPr id="15" name="Step card 4"/>
          <p:cNvSpPr/>
          <p:nvPr/>
        </p:nvSpPr>
        <p:spPr>
          <a:xfrm>
            <a:off x="548640" y="4123944"/>
            <a:ext cx="6309360" cy="868680"/>
          </a:xfrm>
          <a:prstGeom prst="roundRect">
            <a:avLst>
              <a:gd name="adj" fmla="val 8421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6" name="Step badge 4"/>
          <p:cNvSpPr/>
          <p:nvPr/>
        </p:nvSpPr>
        <p:spPr>
          <a:xfrm>
            <a:off x="731520" y="4325112"/>
            <a:ext cx="457200" cy="45720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17" name="Step number 4"/>
          <p:cNvSpPr txBox="1"/>
          <p:nvPr/>
        </p:nvSpPr>
        <p:spPr>
          <a:xfrm>
            <a:off x="731520" y="43251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8" name="Step text 4"/>
          <p:cNvSpPr txBox="1"/>
          <p:nvPr/>
        </p:nvSpPr>
        <p:spPr>
          <a:xfrm>
            <a:off x="1417320" y="4197096"/>
            <a:ext cx="5303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Image branch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4096 → 2048 (ReLU, BatchNorm) → 256 (tanh)</a:t>
            </a:r>
            <a:endParaRPr lang="en-US" sz="1500" dirty="0"/>
          </a:p>
        </p:txBody>
      </p:sp>
      <p:sp>
        <p:nvSpPr>
          <p:cNvPr id="19" name="Step card 5"/>
          <p:cNvSpPr/>
          <p:nvPr/>
        </p:nvSpPr>
        <p:spPr>
          <a:xfrm>
            <a:off x="548640" y="5102352"/>
            <a:ext cx="6309360" cy="868680"/>
          </a:xfrm>
          <a:prstGeom prst="roundRect">
            <a:avLst>
              <a:gd name="adj" fmla="val 8421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0" name="Step badge 5"/>
          <p:cNvSpPr/>
          <p:nvPr/>
        </p:nvSpPr>
        <p:spPr>
          <a:xfrm>
            <a:off x="731520" y="5303520"/>
            <a:ext cx="457200" cy="45720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21" name="Step number 5"/>
          <p:cNvSpPr txBox="1"/>
          <p:nvPr/>
        </p:nvSpPr>
        <p:spPr>
          <a:xfrm>
            <a:off x="731520" y="5303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22" name="Step text 5"/>
          <p:cNvSpPr txBox="1"/>
          <p:nvPr/>
        </p:nvSpPr>
        <p:spPr>
          <a:xfrm>
            <a:off x="1417320" y="5175504"/>
            <a:ext cx="5303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Shared space &amp; optimizer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256-d; AdamW lr 1e-3, weight decay 1e-4</a:t>
            </a:r>
            <a:endParaRPr lang="en-US" sz="1500" dirty="0"/>
          </a:p>
        </p:txBody>
      </p:sp>
      <p:sp>
        <p:nvSpPr>
          <p:cNvPr id="23" name="Why it helps card"/>
          <p:cNvSpPr/>
          <p:nvPr/>
        </p:nvSpPr>
        <p:spPr>
          <a:xfrm>
            <a:off x="7132320" y="1188720"/>
            <a:ext cx="4507992" cy="2331720"/>
          </a:xfrm>
          <a:prstGeom prst="roundRect">
            <a:avLst>
              <a:gd name="adj" fmla="val 3137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4" name="Why it helps"/>
          <p:cNvSpPr txBox="1"/>
          <p:nvPr/>
        </p:nvSpPr>
        <p:spPr>
          <a:xfrm>
            <a:off x="7315200" y="1298448"/>
            <a:ext cx="4142232" cy="2112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Why it helps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Every word attends to every other word in parallel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4 heads capture different semantics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No vanishing gradient over long captions</a:t>
            </a:r>
            <a:endParaRPr lang="en-US" sz="1500" dirty="0"/>
          </a:p>
        </p:txBody>
      </p:sp>
      <p:sp>
        <p:nvSpPr>
          <p:cNvPr id="25" name="Dynamic pooling card"/>
          <p:cNvSpPr/>
          <p:nvPr/>
        </p:nvSpPr>
        <p:spPr>
          <a:xfrm>
            <a:off x="7132320" y="3703320"/>
            <a:ext cx="4507992" cy="2331720"/>
          </a:xfrm>
          <a:prstGeom prst="roundRect">
            <a:avLst>
              <a:gd name="adj" fmla="val 3137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6" name="Dynamic pooling"/>
          <p:cNvSpPr txBox="1"/>
          <p:nvPr/>
        </p:nvSpPr>
        <p:spPr>
          <a:xfrm>
            <a:off x="7315200" y="3813048"/>
            <a:ext cx="4142232" cy="2112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Dynamic pooling</a:t>
            </a:r>
            <a:endParaRPr lang="en-US" sz="1500" dirty="0"/>
          </a:p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Learns which words matter (e.g. “running”, “beach”) instead of using only the last hidden state.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5 · Architecture &amp; Hyperparameters</a:t>
            </a:r>
            <a:endParaRPr lang="en-US" sz="3000" dirty="0"/>
          </a:p>
        </p:txBody>
      </p:sp>
      <p:sp>
        <p:nvSpPr>
          <p:cNvPr id="3" name="Pipeline box 1"/>
          <p:cNvSpPr/>
          <p:nvPr/>
        </p:nvSpPr>
        <p:spPr>
          <a:xfrm>
            <a:off x="548640" y="1188720"/>
            <a:ext cx="4572000" cy="73152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4" name="Pipeline text 1"/>
          <p:cNvSpPr txBox="1"/>
          <p:nvPr/>
        </p:nvSpPr>
        <p:spPr>
          <a:xfrm>
            <a:off x="640080" y="118872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Caption → GloVe → [Encoder] → L2/pool → caption_vec</a:t>
            </a:r>
            <a:endParaRPr lang="en-US" sz="1400" dirty="0"/>
          </a:p>
        </p:txBody>
      </p:sp>
      <p:sp>
        <p:nvSpPr>
          <p:cNvPr id="5" name="Pipeline box 2"/>
          <p:cNvSpPr/>
          <p:nvPr/>
        </p:nvSpPr>
        <p:spPr>
          <a:xfrm>
            <a:off x="5349240" y="1188720"/>
            <a:ext cx="3749040" cy="73152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 w="6350">
            <a:solidFill>
              <a:schemeClr val="tx2"/>
            </a:solidFill>
            <a:prstDash val="solid"/>
          </a:ln>
        </p:spPr>
      </p:sp>
      <p:sp>
        <p:nvSpPr>
          <p:cNvPr id="6" name="Pipeline text 2"/>
          <p:cNvSpPr txBox="1"/>
          <p:nvPr/>
        </p:nvSpPr>
        <p:spPr>
          <a:xfrm>
            <a:off x="5440680" y="118872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Image → VGG-19 fc7 → projection → image_vec</a:t>
            </a:r>
            <a:endParaRPr lang="en-US" sz="1400" dirty="0"/>
          </a:p>
        </p:txBody>
      </p:sp>
      <p:sp>
        <p:nvSpPr>
          <p:cNvPr id="7" name="Pipeline box 3"/>
          <p:cNvSpPr/>
          <p:nvPr/>
        </p:nvSpPr>
        <p:spPr>
          <a:xfrm>
            <a:off x="9326880" y="1188720"/>
            <a:ext cx="2313432" cy="731520"/>
          </a:xfrm>
          <a:prstGeom prst="roundRect">
            <a:avLst>
              <a:gd name="adj" fmla="val 10000"/>
            </a:avLst>
          </a:prstGeom>
          <a:solidFill>
            <a:schemeClr val="accent2"/>
          </a:solidFill>
          <a:ln w="6350">
            <a:solidFill>
              <a:schemeClr val="accent2"/>
            </a:solidFill>
            <a:prstDash val="solid"/>
          </a:ln>
        </p:spPr>
      </p:sp>
      <p:sp>
        <p:nvSpPr>
          <p:cNvPr id="8" name="Pipeline text 3"/>
          <p:cNvSpPr txBox="1"/>
          <p:nvPr/>
        </p:nvSpPr>
        <p:spPr>
          <a:xfrm>
            <a:off x="9418320" y="1188720"/>
            <a:ext cx="2130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Margin Ranking Loss</a:t>
            </a:r>
            <a:endParaRPr lang="en-US" sz="1400" dirty="0"/>
          </a:p>
        </p:txBody>
      </p:sp>
      <p:graphicFrame>
        <p:nvGraphicFramePr>
          <p:cNvPr id="7" name="Hyperparameter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94560"/>
          <a:ext cx="11091672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2103120"/>
                <a:gridCol w="2103120"/>
                <a:gridCol w="2103120"/>
                <a:gridCol w="2130552"/>
              </a:tblGrid>
              <a:tr h="3566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Hyperparameter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Linear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GRU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LSTM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Transformer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Shared space dim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4096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1024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1024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256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Word embedding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300 (GloVe avg)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300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300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300→256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Hidden dim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N/A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1024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1024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FFN = 1024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Attention heads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N/A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N/A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N/A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Encoder layers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 (linear)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Loss margin α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0.1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0.1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0.2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Optimizer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Ridge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Adam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Adam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AdamW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Learning rate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closed-form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2e-4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2e-4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1e-3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Dropout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0.1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Batch size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Full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128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128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128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6 · Results: Text → Image Retrieval &amp; Key Findings</a:t>
            </a:r>
            <a:endParaRPr lang="en-US" sz="3000" dirty="0"/>
          </a:p>
        </p:txBody>
      </p:sp>
      <p:graphicFrame>
        <p:nvGraphicFramePr>
          <p:cNvPr id="8" name="Result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11091672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2011680"/>
                <a:gridCol w="1371600"/>
                <a:gridCol w="1371600"/>
                <a:gridCol w="1371600"/>
                <a:gridCol w="2130552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Model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Source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R@1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R@5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R@10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Mean Rank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Linear Baseline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Reference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10.3%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17.1%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176.1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Linear + Weight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Reference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19.8%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65.5%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10.5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GRU + GloVe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Reference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37.0%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86.8%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7.3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LSTM + GloVe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Reference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35.4%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86.2%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7.5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GRU + GloVe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Our reproduction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36.7%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78.2%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86.4%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7.6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LSTM + GloVe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Our reproduction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34.9%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77.1%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85.8%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7.9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Transformer + Self-Attn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3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Our extension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3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39.2%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3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81.4%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3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88.5%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3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6.4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3EF"/>
                    </a:solidFill>
                  </a:tcPr>
                </a:tc>
              </a:tr>
            </a:tbl>
          </a:graphicData>
        </a:graphic>
      </p:graphicFrame>
      <p:sp>
        <p:nvSpPr>
          <p:cNvPr id="4" name="Results takeaway"/>
          <p:cNvSpPr txBox="1"/>
          <p:nvPr/>
        </p:nvSpPr>
        <p:spPr>
          <a:xfrm>
            <a:off x="548640" y="39319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Reproduction within ~0.5% of reported numbers; Transformer best on every metric.</a:t>
            </a:r>
            <a:endParaRPr lang="en-US" sz="1500" dirty="0"/>
          </a:p>
        </p:txBody>
      </p:sp>
      <p:sp>
        <p:nvSpPr>
          <p:cNvPr id="5" name="Finding 1 card"/>
          <p:cNvSpPr/>
          <p:nvPr/>
        </p:nvSpPr>
        <p:spPr>
          <a:xfrm>
            <a:off x="548640" y="4434840"/>
            <a:ext cx="5458968" cy="841248"/>
          </a:xfrm>
          <a:prstGeom prst="roundRect">
            <a:avLst>
              <a:gd name="adj" fmla="val 8696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Finding 1"/>
          <p:cNvSpPr txBox="1"/>
          <p:nvPr/>
        </p:nvSpPr>
        <p:spPr>
          <a:xfrm>
            <a:off x="731520" y="4544568"/>
            <a:ext cx="50932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Reproduction gap ~0.5%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Due to seed, PyTorch vs Theano, minor split differences</a:t>
            </a:r>
            <a:endParaRPr lang="en-US" sz="1500" dirty="0"/>
          </a:p>
        </p:txBody>
      </p:sp>
      <p:sp>
        <p:nvSpPr>
          <p:cNvPr id="7" name="Finding 2 card"/>
          <p:cNvSpPr/>
          <p:nvPr/>
        </p:nvSpPr>
        <p:spPr>
          <a:xfrm>
            <a:off x="6181344" y="4434840"/>
            <a:ext cx="5458968" cy="841248"/>
          </a:xfrm>
          <a:prstGeom prst="roundRect">
            <a:avLst>
              <a:gd name="adj" fmla="val 8696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Finding 2"/>
          <p:cNvSpPr txBox="1"/>
          <p:nvPr/>
        </p:nvSpPr>
        <p:spPr>
          <a:xfrm>
            <a:off x="6364224" y="4544568"/>
            <a:ext cx="50932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Transformer wins on all metrics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Mean Rank 7.3 → 6.4 (about one position better)</a:t>
            </a:r>
            <a:endParaRPr lang="en-US" sz="1500" dirty="0"/>
          </a:p>
        </p:txBody>
      </p:sp>
      <p:sp>
        <p:nvSpPr>
          <p:cNvPr id="9" name="Finding 3 card"/>
          <p:cNvSpPr/>
          <p:nvPr/>
        </p:nvSpPr>
        <p:spPr>
          <a:xfrm>
            <a:off x="548640" y="5394960"/>
            <a:ext cx="5458968" cy="841248"/>
          </a:xfrm>
          <a:prstGeom prst="roundRect">
            <a:avLst>
              <a:gd name="adj" fmla="val 8696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Finding 3"/>
          <p:cNvSpPr txBox="1"/>
          <p:nvPr/>
        </p:nvSpPr>
        <p:spPr>
          <a:xfrm>
            <a:off x="731520" y="5504688"/>
            <a:ext cx="50932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Scales with caption length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Self-attention scales gracefully (caption_length_analysis.png)</a:t>
            </a:r>
            <a:endParaRPr lang="en-US" sz="1500" dirty="0"/>
          </a:p>
        </p:txBody>
      </p:sp>
      <p:sp>
        <p:nvSpPr>
          <p:cNvPr id="11" name="Finding 4 card"/>
          <p:cNvSpPr/>
          <p:nvPr/>
        </p:nvSpPr>
        <p:spPr>
          <a:xfrm>
            <a:off x="6181344" y="5394960"/>
            <a:ext cx="5458968" cy="841248"/>
          </a:xfrm>
          <a:prstGeom prst="roundRect">
            <a:avLst>
              <a:gd name="adj" fmla="val 8696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2" name="Finding 4"/>
          <p:cNvSpPr txBox="1"/>
          <p:nvPr/>
        </p:nvSpPr>
        <p:spPr>
          <a:xfrm>
            <a:off x="6364224" y="5504688"/>
            <a:ext cx="50932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Richer image features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Deep non-linear projection beats one linear layer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7 · Conclusion, Project Outputs &amp; References</a:t>
            </a:r>
            <a:endParaRPr lang="en-US" sz="3000" dirty="0"/>
          </a:p>
        </p:txBody>
      </p:sp>
      <p:sp>
        <p:nvSpPr>
          <p:cNvPr id="3" name="Conclusion card"/>
          <p:cNvSpPr/>
          <p:nvPr/>
        </p:nvSpPr>
        <p:spPr>
          <a:xfrm>
            <a:off x="548640" y="1188720"/>
            <a:ext cx="5577840" cy="2743200"/>
          </a:xfrm>
          <a:prstGeom prst="roundRect">
            <a:avLst>
              <a:gd name="adj" fmla="val 2667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4" name="Conclusion"/>
          <p:cNvSpPr txBox="1"/>
          <p:nvPr/>
        </p:nvSpPr>
        <p:spPr>
          <a:xfrm>
            <a:off x="731520" y="1298448"/>
            <a:ext cx="5212080" cy="2523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Conclusion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Reproduced GRU/LSTM + GloVe retrieval on MS-COCO-style features with a margin ranking loss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Extended with a Transformer + dynamic attention pooling: R@1 39.2%, Mean Rank 6.4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Future work: end-to-end image encoders, larger-scale COCO training</a:t>
            </a:r>
            <a:endParaRPr lang="en-US" sz="1500" dirty="0"/>
          </a:p>
        </p:txBody>
      </p:sp>
      <p:sp>
        <p:nvSpPr>
          <p:cNvPr id="5" name="References card"/>
          <p:cNvSpPr/>
          <p:nvPr/>
        </p:nvSpPr>
        <p:spPr>
          <a:xfrm>
            <a:off x="548640" y="4114800"/>
            <a:ext cx="5577840" cy="2103120"/>
          </a:xfrm>
          <a:prstGeom prst="roundRect">
            <a:avLst>
              <a:gd name="adj" fmla="val 3478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References"/>
          <p:cNvSpPr txBox="1"/>
          <p:nvPr/>
        </p:nvSpPr>
        <p:spPr>
          <a:xfrm>
            <a:off x="731520" y="4224528"/>
            <a:ext cx="5212080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References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Lamberti &amp; Qian, “Neural Caption-Image Retrieval”, CS229, Stanford (2017)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Code: github.com/shivanshpap/ML-MiniProject-Neural-Caption-Retrieval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Reference: github.com/giacomolamberti90/CS229_project</a:t>
            </a:r>
            <a:endParaRPr lang="en-US" sz="1500" dirty="0"/>
          </a:p>
        </p:txBody>
      </p:sp>
      <p:sp>
        <p:nvSpPr>
          <p:cNvPr id="7" name="Project card card"/>
          <p:cNvSpPr/>
          <p:nvPr/>
        </p:nvSpPr>
        <p:spPr>
          <a:xfrm>
            <a:off x="6355080" y="1188720"/>
            <a:ext cx="5285232" cy="5029200"/>
          </a:xfrm>
          <a:prstGeom prst="roundRect">
            <a:avLst>
              <a:gd name="adj" fmla="val 1455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Project card"/>
          <p:cNvSpPr txBox="1"/>
          <p:nvPr/>
        </p:nvSpPr>
        <p:spPr>
          <a:xfrm>
            <a:off x="6537960" y="1298448"/>
            <a:ext cx="4919472" cy="4809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Project &amp; how to run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src/  </a:t>
            </a:r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models, loss, dataset, evaluation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scripts/  </a:t>
            </a:r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run_experiments.py, demo_app.py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notebooks/  </a:t>
            </a:r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16-cell walkthrough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artifacts/ 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plots, results_summary.json, transformer_extension.pt</a:t>
            </a:r>
            <a:endParaRPr lang="en-US" sz="1500" dirty="0"/>
          </a:p>
        </p:txBody>
      </p:sp>
      <p:sp>
        <p:nvSpPr>
          <p:cNvPr id="9" name="Demo label"/>
          <p:cNvSpPr txBox="1"/>
          <p:nvPr/>
        </p:nvSpPr>
        <p:spPr>
          <a:xfrm>
            <a:off x="6537960" y="38404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Demo</a:t>
            </a:r>
            <a:endParaRPr lang="en-US" sz="1300" dirty="0"/>
          </a:p>
        </p:txBody>
      </p:sp>
      <p:sp>
        <p:nvSpPr>
          <p:cNvPr id="10" name="Demo code box"/>
          <p:cNvSpPr/>
          <p:nvPr/>
        </p:nvSpPr>
        <p:spPr>
          <a:xfrm>
            <a:off x="6537960" y="4160520"/>
            <a:ext cx="4919472" cy="502920"/>
          </a:xfrm>
          <a:prstGeom prst="roundRect">
            <a:avLst>
              <a:gd name="adj" fmla="val 10909"/>
            </a:avLst>
          </a:prstGeom>
          <a:solidFill>
            <a:schemeClr val="tx2"/>
          </a:solidFill>
          <a:ln w="6350">
            <a:solidFill>
              <a:schemeClr val="tx2"/>
            </a:solidFill>
            <a:prstDash val="solid"/>
          </a:ln>
        </p:spPr>
      </p:sp>
      <p:sp>
        <p:nvSpPr>
          <p:cNvPr id="11" name="Demo code"/>
          <p:cNvSpPr txBox="1"/>
          <p:nvPr/>
        </p:nvSpPr>
        <p:spPr>
          <a:xfrm>
            <a:off x="6675120" y="416052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scripts/demo_app.py</a:t>
            </a:r>
            <a:endParaRPr lang="en-US" sz="1300" dirty="0"/>
          </a:p>
        </p:txBody>
      </p:sp>
      <p:sp>
        <p:nvSpPr>
          <p:cNvPr id="12" name="Run label"/>
          <p:cNvSpPr txBox="1"/>
          <p:nvPr/>
        </p:nvSpPr>
        <p:spPr>
          <a:xfrm>
            <a:off x="6537960" y="489204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Full run (~2–5 min on CPU)</a:t>
            </a:r>
            <a:endParaRPr lang="en-US" sz="1300" dirty="0"/>
          </a:p>
        </p:txBody>
      </p:sp>
      <p:sp>
        <p:nvSpPr>
          <p:cNvPr id="13" name="Run code box"/>
          <p:cNvSpPr/>
          <p:nvPr/>
        </p:nvSpPr>
        <p:spPr>
          <a:xfrm>
            <a:off x="6537960" y="5212080"/>
            <a:ext cx="4919472" cy="502920"/>
          </a:xfrm>
          <a:prstGeom prst="roundRect">
            <a:avLst>
              <a:gd name="adj" fmla="val 10909"/>
            </a:avLst>
          </a:prstGeom>
          <a:solidFill>
            <a:schemeClr val="tx2"/>
          </a:solidFill>
          <a:ln w="6350">
            <a:solidFill>
              <a:schemeClr val="tx2"/>
            </a:solidFill>
            <a:prstDash val="solid"/>
          </a:ln>
        </p:spPr>
      </p:sp>
      <p:sp>
        <p:nvSpPr>
          <p:cNvPr id="14" name="Run code"/>
          <p:cNvSpPr txBox="1"/>
          <p:nvPr/>
        </p:nvSpPr>
        <p:spPr>
          <a:xfrm>
            <a:off x="6675120" y="521208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scripts/run_experiments.py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aption Retrieval">
  <a:themeElements>
    <a:clrScheme name="Caption Retrieval">
      <a:dk1>
        <a:srgbClr val="1F2937"/>
      </a:dk1>
      <a:lt1>
        <a:srgbClr val="FFFFFF"/>
      </a:lt1>
      <a:dk2>
        <a:srgbClr val="1B2A4A"/>
      </a:dk2>
      <a:lt2>
        <a:srgbClr val="F4F6FA"/>
      </a:lt2>
      <a:accent1>
        <a:srgbClr val="0E9F8E"/>
      </a:accent1>
      <a:accent2>
        <a:srgbClr val="F5A623"/>
      </a:accent2>
      <a:accent3>
        <a:srgbClr val="1B2A4A"/>
      </a:accent3>
      <a:accent4>
        <a:srgbClr val="64748B"/>
      </a:accent4>
      <a:accent5>
        <a:srgbClr val="D9534F"/>
      </a:accent5>
      <a:accent6>
        <a:srgbClr val="2E7D5B"/>
      </a:accent6>
      <a:hlink>
        <a:srgbClr val="0E9F8E"/>
      </a:hlink>
      <a:folHlink>
        <a:srgbClr val="64748B"/>
      </a:folHlink>
    </a:clrScheme>
    <a:fontScheme name="Caption Retrieval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Neural Caption-Image Retrieval</dc:title>
  <dc:subject>PptxGenJS Presentation</dc:subject>
  <dc:creator>PptxGenJS</dc:creator>
  <cp:lastModifiedBy>PptxGenJS</cp:lastModifiedBy>
  <cp:revision>1</cp:revision>
  <dcterms:created xsi:type="dcterms:W3CDTF">2026-10-15T08:27:44Z</dcterms:created>
  <dcterms:modified xsi:type="dcterms:W3CDTF">2026-10-15T08:27:44Z</dcterms:modified>
</cp:coreProperties>
</file>